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28" y="-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971F3-6073-4227-9C0A-E23C64B73EF6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BDF47-8E26-459A-BF6F-83B0E35A0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3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7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65677"/>
            <a:ext cx="8229600" cy="1272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750" b="1" kern="0" spc="-2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IMPLEMENTASI DAN ANALISIS KOMPARATIF ALGORITMA QUICK SORT DAN EXPONENTIAL SEARCH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57200" y="2397119"/>
            <a:ext cx="8229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Sistem Transaksi E-Commerce | Struktur Data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177058" y="3211506"/>
            <a:ext cx="1516261" cy="505420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91358" y="3311519"/>
            <a:ext cx="128766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Chessa Ruth Olivia P.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291358" y="3466895"/>
            <a:ext cx="12876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5253151023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850481" y="3211506"/>
            <a:ext cx="1539478" cy="505420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64781" y="3311519"/>
            <a:ext cx="13108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Vidiarga Manik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964781" y="3466895"/>
            <a:ext cx="131087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5253151015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547122" y="3211506"/>
            <a:ext cx="1391245" cy="505420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1422" y="3311519"/>
            <a:ext cx="11626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Fadhil Satria Zebua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61422" y="3466895"/>
            <a:ext cx="116264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5253151005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098602" y="3859802"/>
            <a:ext cx="29467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kern="0" spc="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UNIVERSITAS NEGERI MEDAN |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2867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PENDAHULUAN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8717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7231" y="1168422"/>
            <a:ext cx="13894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28625" y="1505964"/>
            <a:ext cx="400050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Era digitalisasi komparatif modern memicu akumulasi data transaksi e-commerce dalam volume masif. Pengelolaan data berskala besar menuntut efisiensi tinggi pada operasi 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sorting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 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searching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guna memangkas latensi sistem dan menghadirkan respons real-time bagi pengguna akhir.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28625" y="2663140"/>
            <a:ext cx="40005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Metode konvensional seperti Bubble Sort seringkali tidak kompeten untuk dataset besar karena kompleksitas waktu kuadratik $O(n^2)$, sehingga diperlukan algoritma tingkat lanjut yang lebih optimal.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187174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93481" y="1168422"/>
            <a:ext cx="166628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Rumusan Masalah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4714875" y="1463101"/>
            <a:ext cx="4000500" cy="1382316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634551"/>
            <a:ext cx="71438" cy="2464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14913" y="1605976"/>
            <a:ext cx="355758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Mengapa Quick Sort jauh lebih unggul dibanding Bubble Sort pada dataset skala besar?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995311"/>
            <a:ext cx="71438" cy="24645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14913" y="1966736"/>
            <a:ext cx="355758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Bagaimana mekanisme Exponential Search mampu mempercepat pencarian data ritel?</a:t>
            </a:r>
            <a:endParaRPr lang="en-US" sz="8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356070"/>
            <a:ext cx="71438" cy="24645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14913" y="2327495"/>
            <a:ext cx="355758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Bagaimana karakteristik trade-off performa ditinjau dari stabilitas memori dan volatilitas data?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TUJUAN PROYEK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11284"/>
            <a:ext cx="8001000" cy="800100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4375" y="1411309"/>
            <a:ext cx="371475" cy="3714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411309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57300" y="1297009"/>
            <a:ext cx="71723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Memahami cara kerja internal, merumuskan model formal pseudocode, serta menganalisis secara mendalam </a:t>
            </a: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kompleksitas asimtotik waktu dan ruang (Big-O)</a:t>
            </a: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dari algoritma Quick Sort dan Exponential Search.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71500" y="2111397"/>
            <a:ext cx="8001000" cy="600075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4375" y="2211409"/>
            <a:ext cx="371475" cy="3714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211409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57300" y="2197122"/>
            <a:ext cx="7172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Mengimplementasikan seluruh algoritma utama secara </a:t>
            </a: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mandiri (from scratch)</a:t>
            </a: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menggunakan bahasa pemrograman C++ tanpa memanfaatkan fungsi bawaan pustaka standar.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1500" y="2811484"/>
            <a:ext cx="8001000" cy="600075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4375" y="2911497"/>
            <a:ext cx="371475" cy="3714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911497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57300" y="2897209"/>
            <a:ext cx="7172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Melakukan </a:t>
            </a: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pengujian komparatif objektif (benchmark)</a:t>
            </a: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menggunakan data transaksi e-commerce nyata dalam berbagai skala guna memvalidasi efisiensi komputasi teoritis dengan performa aktual sistem.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2867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LANDASAN TEORI: PENGURUTAN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11284"/>
            <a:ext cx="4000500" cy="3421856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408630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0113" y="1389878"/>
            <a:ext cx="108406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Bubble Sort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1770283"/>
            <a:ext cx="100013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4388" y="1741708"/>
            <a:ext cx="29307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Berbasis perbandingan tetangga (comparison-based).</a:t>
            </a:r>
            <a:endParaRPr lang="en-US" sz="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048889"/>
            <a:ext cx="100013" cy="3143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14388" y="2020314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Membandingkan pasangan elemen bersebelahan dan melakukan pertukaran (swap).</a:t>
            </a:r>
            <a:endParaRPr lang="en-US" sz="8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498945"/>
            <a:ext cx="100013" cy="3143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14388" y="2470370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Analog seperti gelembung udara yang bergerak naik ke permukaan.</a:t>
            </a:r>
            <a:endParaRPr lang="en-US" sz="8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949001"/>
            <a:ext cx="100013" cy="3143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4388" y="2920426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Sangat tidak efisien untuk dataset besar karena struktur loop bersarang.</a:t>
            </a:r>
            <a:endParaRPr lang="en-US" sz="850" dirty="0"/>
          </a:p>
        </p:txBody>
      </p:sp>
      <p:sp>
        <p:nvSpPr>
          <p:cNvPr id="15" name="Shape 7"/>
          <p:cNvSpPr/>
          <p:nvPr/>
        </p:nvSpPr>
        <p:spPr>
          <a:xfrm>
            <a:off x="642938" y="3441920"/>
            <a:ext cx="1182291" cy="17859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8"/>
          <p:cNvSpPr/>
          <p:nvPr/>
        </p:nvSpPr>
        <p:spPr>
          <a:xfrm>
            <a:off x="642938" y="3441920"/>
            <a:ext cx="1182291" cy="178594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WORST CASE: O(n²)</a:t>
            </a:r>
            <a:endParaRPr lang="en-US" sz="700" dirty="0"/>
          </a:p>
        </p:txBody>
      </p:sp>
      <p:sp>
        <p:nvSpPr>
          <p:cNvPr id="17" name="Shape 9"/>
          <p:cNvSpPr/>
          <p:nvPr/>
        </p:nvSpPr>
        <p:spPr>
          <a:xfrm>
            <a:off x="4714875" y="1211284"/>
            <a:ext cx="4000500" cy="3421856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408630"/>
            <a:ext cx="128588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43500" y="1389878"/>
            <a:ext cx="96619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Quick Sort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770283"/>
            <a:ext cx="100013" cy="14287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00638" y="1741708"/>
            <a:ext cx="24181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Menerapkan paradigma </a:t>
            </a: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 and Conquer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048889"/>
            <a:ext cx="100013" cy="14287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00638" y="2020314"/>
            <a:ext cx="29503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Pemilihan Pivot: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Menentukan elemen acuan pembatas.</a:t>
            </a:r>
            <a:endParaRPr lang="en-US" sz="8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2327495"/>
            <a:ext cx="100013" cy="31432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00638" y="2298920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Partisi: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Mengatur elemen (lebih kecil di kiri, lebih besar di kanan pivot).</a:t>
            </a:r>
            <a:endParaRPr lang="en-US" sz="8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2777551"/>
            <a:ext cx="100013" cy="314325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100638" y="2748976"/>
            <a:ext cx="3400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Rekursi: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Menerapkan pengurutan pada sub-array secara berulang.</a:t>
            </a:r>
            <a:endParaRPr lang="en-US" sz="800" dirty="0"/>
          </a:p>
        </p:txBody>
      </p:sp>
      <p:sp>
        <p:nvSpPr>
          <p:cNvPr id="28" name="Shape 15"/>
          <p:cNvSpPr/>
          <p:nvPr/>
        </p:nvSpPr>
        <p:spPr>
          <a:xfrm>
            <a:off x="4929188" y="3270470"/>
            <a:ext cx="1546622" cy="17859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16"/>
          <p:cNvSpPr/>
          <p:nvPr/>
        </p:nvSpPr>
        <p:spPr>
          <a:xfrm>
            <a:off x="4929188" y="3270470"/>
            <a:ext cx="1546622" cy="178594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AVERAGE CASE: O(n log n)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LANDASAN TEORI: EXPONENTIAL SEARCH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82722"/>
            <a:ext cx="3857625" cy="2387798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514001"/>
            <a:ext cx="137517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9055" y="1497034"/>
            <a:ext cx="253960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FASE 1: PENENTUAN RENTANG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866723"/>
            <a:ext cx="87511" cy="3286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4761" y="1831005"/>
            <a:ext cx="327005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Dimulai dari indeks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= 1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kemudian melompat secara eksponensial (1, 2, 4, 8, ...).</a:t>
            </a:r>
            <a:endParaRPr lang="en-US" sz="9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338211"/>
            <a:ext cx="87511" cy="3286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44761" y="2302492"/>
            <a:ext cx="327005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Berhenti saat elemen di indeks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lebih besar atau sama dengan target, atau mencapai batas array.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809698"/>
            <a:ext cx="87511" cy="3286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44761" y="2773980"/>
            <a:ext cx="327005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Sangat efisien untuk mencari elemen yang terletak di bagian awal array.</a:t>
            </a:r>
            <a:endParaRPr lang="en-US" sz="900" dirty="0"/>
          </a:p>
        </p:txBody>
      </p:sp>
      <p:sp>
        <p:nvSpPr>
          <p:cNvPr id="13" name="Shape 6"/>
          <p:cNvSpPr/>
          <p:nvPr/>
        </p:nvSpPr>
        <p:spPr>
          <a:xfrm>
            <a:off x="4714875" y="1282722"/>
            <a:ext cx="3857625" cy="2387798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514001"/>
            <a:ext cx="157163" cy="15716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172075" y="1497034"/>
            <a:ext cx="293786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FASE 2: BINARY SEARCH INTERNAL</a:t>
            </a:r>
            <a:endParaRPr lang="en-US" sz="11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866723"/>
            <a:ext cx="87511" cy="3286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088136" y="1831005"/>
            <a:ext cx="327005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Setelah rentang ditemukan (antara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i/2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min(i, n-1)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dilakukan pencarian biner.</a:t>
            </a:r>
            <a:endParaRPr lang="en-US" sz="9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338211"/>
            <a:ext cx="87511" cy="3286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088136" y="2302492"/>
            <a:ext cx="327005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Memanfaatkan sifat array yang sudah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terurut (sorted)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untuk mempersempit ruang pencarian secara logaritmik.</a:t>
            </a:r>
            <a:endParaRPr lang="en-US" sz="9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2809698"/>
            <a:ext cx="87511" cy="32861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088136" y="2773980"/>
            <a:ext cx="3270052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Menghasilkan lokasi presisi dari elemen target dalam waktu singkat.</a:t>
            </a:r>
            <a:endParaRPr lang="en-US" sz="900" dirty="0"/>
          </a:p>
        </p:txBody>
      </p:sp>
      <p:sp>
        <p:nvSpPr>
          <p:cNvPr id="22" name="Shape 11"/>
          <p:cNvSpPr/>
          <p:nvPr/>
        </p:nvSpPr>
        <p:spPr>
          <a:xfrm>
            <a:off x="571500" y="3888405"/>
            <a:ext cx="8001000" cy="59650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12"/>
          <p:cNvSpPr/>
          <p:nvPr/>
        </p:nvSpPr>
        <p:spPr>
          <a:xfrm>
            <a:off x="571500" y="3888405"/>
            <a:ext cx="57150" cy="59650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13"/>
          <p:cNvSpPr/>
          <p:nvPr/>
        </p:nvSpPr>
        <p:spPr>
          <a:xfrm>
            <a:off x="571500" y="3888405"/>
            <a:ext cx="8001000" cy="596503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Kompleksitas Waktu: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$O(\log i)$, di mana $i$ adalah posisi target. Algoritma ini ideal untuk </a:t>
            </a: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unbounded arrays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atau dataset dengan ukuran dinamis dalam sistem e-commerce.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ANALISIS KOMPLEKSITAS (BIG-O)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11272"/>
            <a:ext cx="8001000" cy="1443038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5072" y="1114844"/>
            <a:ext cx="2020900" cy="351830"/>
          </a:xfrm>
          <a:prstGeom prst="rect">
            <a:avLst/>
          </a:prstGeom>
          <a:solidFill>
            <a:srgbClr val="1E293B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5072" y="1114844"/>
            <a:ext cx="2020900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ALGORITMA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95972" y="1114844"/>
            <a:ext cx="1425262" cy="351830"/>
          </a:xfrm>
          <a:prstGeom prst="rect">
            <a:avLst/>
          </a:prstGeom>
          <a:solidFill>
            <a:srgbClr val="1E293B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95972" y="1114844"/>
            <a:ext cx="1425262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BEST CASE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018555" y="1114844"/>
            <a:ext cx="1910953" cy="351830"/>
          </a:xfrm>
          <a:prstGeom prst="rect">
            <a:avLst/>
          </a:prstGeom>
          <a:solidFill>
            <a:srgbClr val="1E293B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18555" y="1114844"/>
            <a:ext cx="191095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AVERAGE CASE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26355" y="1114844"/>
            <a:ext cx="1683525" cy="351830"/>
          </a:xfrm>
          <a:prstGeom prst="rect">
            <a:avLst/>
          </a:prstGeom>
          <a:solidFill>
            <a:srgbClr val="1E293B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6355" y="1114844"/>
            <a:ext cx="1683525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WORST CASE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08763" y="1114844"/>
            <a:ext cx="960165" cy="351830"/>
          </a:xfrm>
          <a:prstGeom prst="rect">
            <a:avLst/>
          </a:prstGeom>
          <a:solidFill>
            <a:srgbClr val="1E293B"/>
          </a:solidFill>
          <a:ln w="9144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08763" y="1114844"/>
            <a:ext cx="960165" cy="35183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SPACE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5072" y="1459530"/>
            <a:ext cx="2028099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Bubble Sort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03171" y="1459530"/>
            <a:ext cx="142085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O(n²)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024024" y="1459530"/>
            <a:ext cx="1907130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O(n²)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31154" y="1459530"/>
            <a:ext cx="167702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O(n²)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08177" y="1459530"/>
            <a:ext cx="960751" cy="35183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O(1)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75072" y="1811359"/>
            <a:ext cx="7993856" cy="35183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8"/>
          <p:cNvSpPr/>
          <p:nvPr/>
        </p:nvSpPr>
        <p:spPr>
          <a:xfrm>
            <a:off x="575072" y="1811359"/>
            <a:ext cx="2028099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Quick Sort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03171" y="1811359"/>
            <a:ext cx="142085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 log n)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024024" y="1811359"/>
            <a:ext cx="1907130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 log n)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931154" y="1811359"/>
            <a:ext cx="167702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O(n²)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08177" y="1811359"/>
            <a:ext cx="960751" cy="35183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O(log n)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75072" y="2163189"/>
            <a:ext cx="2028099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Exponential Search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603171" y="2163189"/>
            <a:ext cx="142085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O(1)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024024" y="2163189"/>
            <a:ext cx="1907130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O(log i)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931154" y="2163189"/>
            <a:ext cx="1677023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O(log n)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608177" y="2163189"/>
            <a:ext cx="960751" cy="351830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O(1)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71500" y="2590028"/>
            <a:ext cx="85725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Keterangan: </a:t>
            </a:r>
            <a:r>
              <a:rPr lang="en-US" sz="800" b="1" i="1" dirty="0">
                <a:solidFill>
                  <a:srgbClr val="0596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</a:t>
            </a: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adalah jumlah total data, </a:t>
            </a:r>
            <a:r>
              <a:rPr lang="en-US" sz="800" b="1" i="1" dirty="0">
                <a:solidFill>
                  <a:srgbClr val="0596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</a:t>
            </a:r>
            <a:r>
              <a:rPr lang="en-US" sz="8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adalah posisi indeks riil target dalam array.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2867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KELEBIHAN DAN KEKURANGAN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168422"/>
            <a:ext cx="4000500" cy="2152669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7219" y="1254147"/>
            <a:ext cx="3643313" cy="29468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QUICK SORT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646160"/>
            <a:ext cx="11430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2956" y="1634551"/>
            <a:ext cx="5304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Kelebihan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1850650"/>
            <a:ext cx="85725" cy="1185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4381" y="1829219"/>
            <a:ext cx="238779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Sangat cepat pada kasus rata-rata ($O(n \log n)$).</a:t>
            </a:r>
            <a:endParaRPr lang="en-US" sz="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2033513"/>
            <a:ext cx="85725" cy="118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381" y="2012082"/>
            <a:ext cx="262532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In-place sorting: hemat penggunaan memori tambahan.</a:t>
            </a:r>
            <a:endParaRPr lang="en-US" sz="7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2216376"/>
            <a:ext cx="85725" cy="11857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64381" y="2194945"/>
            <a:ext cx="256639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Faktor konstanta eksekusi kecil dibanding Merge Sort.</a:t>
            </a:r>
            <a:endParaRPr lang="en-US" sz="7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19" y="2432279"/>
            <a:ext cx="114300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92956" y="2420671"/>
            <a:ext cx="6447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Kekurangan</a:t>
            </a:r>
            <a:endParaRPr lang="en-US" sz="8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219" y="2636769"/>
            <a:ext cx="53578" cy="11857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732234" y="2615338"/>
            <a:ext cx="239851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Unstable sort: dapat merubah urutan data duplikat.</a:t>
            </a:r>
            <a:endParaRPr lang="en-US" sz="7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19" y="2819633"/>
            <a:ext cx="53578" cy="11857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32234" y="2798201"/>
            <a:ext cx="269855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Rentan degradasi ke $O(n^2)$ jika pemilihan pivot buruk.</a:t>
            </a:r>
            <a:endParaRPr lang="en-US" sz="7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219" y="3002496"/>
            <a:ext cx="53578" cy="11857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732234" y="2981065"/>
            <a:ext cx="208597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Risiko stack overflow pada dataset ekstrem.</a:t>
            </a:r>
            <a:endParaRPr lang="en-US" sz="750" dirty="0"/>
          </a:p>
        </p:txBody>
      </p:sp>
      <p:sp>
        <p:nvSpPr>
          <p:cNvPr id="22" name="Shape 11"/>
          <p:cNvSpPr/>
          <p:nvPr/>
        </p:nvSpPr>
        <p:spPr>
          <a:xfrm>
            <a:off x="4714875" y="1168422"/>
            <a:ext cx="4000500" cy="2152669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23" name="Text 12"/>
          <p:cNvSpPr/>
          <p:nvPr/>
        </p:nvSpPr>
        <p:spPr>
          <a:xfrm>
            <a:off x="4893469" y="1254147"/>
            <a:ext cx="3643313" cy="29468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EXPONENTIAL SEARCH</a:t>
            </a:r>
            <a:endParaRPr lang="en-US" sz="12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646160"/>
            <a:ext cx="114300" cy="1143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079206" y="1634551"/>
            <a:ext cx="5304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Kelebihan</a:t>
            </a:r>
            <a:endParaRPr lang="en-US" sz="8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850650"/>
            <a:ext cx="85725" cy="11857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050631" y="1829219"/>
            <a:ext cx="258782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Jauh lebih cepat daripada Linear Search konvensional.</a:t>
            </a:r>
            <a:endParaRPr lang="en-US" sz="75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2033513"/>
            <a:ext cx="85725" cy="11857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050631" y="2012082"/>
            <a:ext cx="237351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Sangat optimal untuk elemen di bagian awal array.</a:t>
            </a:r>
            <a:endParaRPr lang="en-US" sz="75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216376"/>
            <a:ext cx="85725" cy="11857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5050631" y="2194945"/>
            <a:ext cx="236993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Bekerja baik pada array tak terbatas (unbounded).</a:t>
            </a:r>
            <a:endParaRPr lang="en-US" sz="750" dirty="0"/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2432279"/>
            <a:ext cx="114300" cy="114300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5079206" y="2420671"/>
            <a:ext cx="64472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Kekurangan</a:t>
            </a:r>
            <a:endParaRPr lang="en-US" sz="800" dirty="0"/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3469" y="2636769"/>
            <a:ext cx="53578" cy="118570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5018484" y="2615338"/>
            <a:ext cx="2589609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Hanya dapat digunakan pada array yang sudah terurut.</a:t>
            </a:r>
            <a:endParaRPr lang="en-US" sz="750" dirty="0"/>
          </a:p>
        </p:txBody>
      </p:sp>
      <p:pic>
        <p:nvPicPr>
          <p:cNvPr id="36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3469" y="2819633"/>
            <a:ext cx="53578" cy="118570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5018484" y="2798201"/>
            <a:ext cx="264497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Melambat jika elemen berada di ujung akhir array besar.</a:t>
            </a:r>
            <a:endParaRPr lang="en-US" sz="750" dirty="0"/>
          </a:p>
        </p:txBody>
      </p:sp>
      <p:pic>
        <p:nvPicPr>
          <p:cNvPr id="3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3469" y="3002496"/>
            <a:ext cx="53578" cy="118570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5018484" y="2981065"/>
            <a:ext cx="2341364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Memerlukan dua fase (ekspansi &amp; binary search).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PSEUDOCODE: QUICK SORT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11284"/>
            <a:ext cx="4629150" cy="2478881"/>
          </a:xfrm>
          <a:prstGeom prst="rect">
            <a:avLst/>
          </a:prstGeom>
          <a:solidFill>
            <a:srgbClr val="1E293B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211284"/>
            <a:ext cx="4629150" cy="2478881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PROCEDURE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quickSortHelper(array, low, high)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low &lt; high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THEN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mid ← low + (high - low) / 2 pivot ← array[mid] i ← low, j ← high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WHILE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 ≤ j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WHILE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array[i] &lt; pivot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 ← i + 1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WHILE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array[j] &gt; pivot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j ← j - 1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 ≤ j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THEN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swap(array[i], array[j]) i ← i + 1, j ← j - 1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ENDIF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ENDWHILE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50" i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Rekursi Sub-array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CALL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quickSortHelper(array, low, j)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CALL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quickSortHelper(array, i, high)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ENDIF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ENDPROCEDURE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486400" y="1211284"/>
            <a:ext cx="3086100" cy="1168003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9275" y="1354159"/>
            <a:ext cx="2800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MEKANISME PARTISI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29275" y="1618478"/>
            <a:ext cx="28003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Menggunakan varian </a:t>
            </a:r>
            <a:r>
              <a:rPr lang="en-US" sz="7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Hoare Partition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dengan pivot nilai tengah untuk meminimalkan risiko kasus terburuk pada data yang sudah terurut.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0" y="2493587"/>
            <a:ext cx="3086100" cy="1168003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9275" y="2636462"/>
            <a:ext cx="2800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DIVIDE &amp; CONQUER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29275" y="2900781"/>
            <a:ext cx="28003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Masalah besar dipecah menjadi sub-masalah yang lebih kecil secara rekursif hingga mencapai </a:t>
            </a:r>
            <a:r>
              <a:rPr lang="en-US" sz="8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case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(ukuran array ≤ 1).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PSEUDOCODE: EXPONENTIAL SEARCH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211284"/>
            <a:ext cx="4500535" cy="2478881"/>
          </a:xfrm>
          <a:prstGeom prst="rect">
            <a:avLst/>
          </a:prstGeom>
          <a:solidFill>
            <a:srgbClr val="1E293B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211284"/>
            <a:ext cx="4500535" cy="247888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PROCEDURE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exponentialSearch(array, n, target)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IF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array[0] == target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THEN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0 i ← 1 </a:t>
            </a:r>
            <a:r>
              <a:rPr lang="en-US" sz="750" i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Fase Ekspansi Eksponensial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WHILE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 &lt; n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AND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array[i] ≤ target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i ← i * 2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ENDWHILE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low ← i / 2 high ← min(i, n - 1) </a:t>
            </a:r>
            <a:r>
              <a:rPr lang="en-US" sz="750" i="1" dirty="0">
                <a:solidFill>
                  <a:srgbClr val="94A3B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Fase Pencarian Biner Internal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binarySearch(array, low, high, target)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ENDPROCEDURE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5357785" y="1211284"/>
            <a:ext cx="3214688" cy="1168003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00660" y="1354159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STRATEGI PENCARIAN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500660" y="1618478"/>
            <a:ext cx="292893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ini menggabungkan kecepatan lompatan eksponensial untuk menemukan rentang jangkauan dengan presisi </a:t>
            </a:r>
            <a:r>
              <a:rPr lang="en-US" sz="7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Search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57785" y="2493587"/>
            <a:ext cx="3214688" cy="1168003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00660" y="2636462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KONDISI PRASYARAT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00660" y="2900781"/>
            <a:ext cx="292893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Wajib beroperasi pada struktur data yang telah berada dalam kondisi </a:t>
            </a:r>
            <a:r>
              <a:rPr lang="en-US" sz="7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terurut (sorted)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agar logika perbandingan rentang valid.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2867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DESAIN &amp; IMPLEMENTASI PROGRAM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11284"/>
            <a:ext cx="3636811" cy="1259086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369340"/>
            <a:ext cx="16073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9391" y="1354159"/>
            <a:ext cx="14394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Arsitektur Modular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1663126"/>
            <a:ext cx="64294" cy="1214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2950" y="1634551"/>
            <a:ext cx="4982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main.cpp:</a:t>
            </a:r>
            <a:endParaRPr lang="en-US" sz="750" dirty="0"/>
          </a:p>
        </p:txBody>
      </p:sp>
      <p:sp>
        <p:nvSpPr>
          <p:cNvPr id="9" name="Text 4"/>
          <p:cNvSpPr/>
          <p:nvPr/>
        </p:nvSpPr>
        <p:spPr>
          <a:xfrm>
            <a:off x="1312664" y="1634551"/>
            <a:ext cx="180201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loop, CLI menu, CSV parsing.</a:t>
            </a:r>
            <a:endParaRPr lang="en-US" sz="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1884583"/>
            <a:ext cx="64294" cy="1214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2950" y="1856008"/>
            <a:ext cx="6090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sorting.cpp:</a:t>
            </a:r>
            <a:endParaRPr lang="en-US" sz="750" dirty="0"/>
          </a:p>
        </p:txBody>
      </p:sp>
      <p:sp>
        <p:nvSpPr>
          <p:cNvPr id="12" name="Text 6"/>
          <p:cNvSpPr/>
          <p:nvPr/>
        </p:nvSpPr>
        <p:spPr>
          <a:xfrm>
            <a:off x="1423392" y="1856008"/>
            <a:ext cx="17573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Implementasi Quick &amp; Bubble Sort.</a:t>
            </a:r>
            <a:endParaRPr lang="en-US" sz="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2106039"/>
            <a:ext cx="64294" cy="1214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2950" y="2077464"/>
            <a:ext cx="7536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searching.cpp:</a:t>
            </a:r>
            <a:endParaRPr lang="en-US" sz="750" dirty="0"/>
          </a:p>
        </p:txBody>
      </p:sp>
      <p:sp>
        <p:nvSpPr>
          <p:cNvPr id="15" name="Text 8"/>
          <p:cNvSpPr/>
          <p:nvPr/>
        </p:nvSpPr>
        <p:spPr>
          <a:xfrm>
            <a:off x="1568053" y="2077464"/>
            <a:ext cx="17180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Implementasi Exponential Search.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428625" y="2620389"/>
            <a:ext cx="3636811" cy="1259086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2778444"/>
            <a:ext cx="142875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1531" y="2763264"/>
            <a:ext cx="89118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Robustness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3072231"/>
            <a:ext cx="85725" cy="1214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64381" y="3043656"/>
            <a:ext cx="10233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Try-Catch Handling:</a:t>
            </a:r>
            <a:endParaRPr lang="en-US" sz="750" dirty="0"/>
          </a:p>
        </p:txBody>
      </p:sp>
      <p:sp>
        <p:nvSpPr>
          <p:cNvPr id="21" name="Text 12"/>
          <p:cNvSpPr/>
          <p:nvPr/>
        </p:nvSpPr>
        <p:spPr>
          <a:xfrm>
            <a:off x="1859161" y="3043656"/>
            <a:ext cx="15948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Proteksi konversi data numerik.</a:t>
            </a:r>
            <a:endParaRPr lang="en-US" sz="8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3293687"/>
            <a:ext cx="85725" cy="1214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64381" y="3265112"/>
            <a:ext cx="77331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Trimming:</a:t>
            </a:r>
            <a:endParaRPr lang="en-US" sz="750" dirty="0"/>
          </a:p>
        </p:txBody>
      </p:sp>
      <p:sp>
        <p:nvSpPr>
          <p:cNvPr id="24" name="Text 14"/>
          <p:cNvSpPr/>
          <p:nvPr/>
        </p:nvSpPr>
        <p:spPr>
          <a:xfrm>
            <a:off x="1609130" y="3265112"/>
            <a:ext cx="212705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Eliminasi spasi liar &amp; tanda kutip otomatis.</a:t>
            </a:r>
            <a:endParaRPr lang="en-US" sz="8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3515144"/>
            <a:ext cx="85725" cy="12144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64381" y="3486569"/>
            <a:ext cx="76259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Values:</a:t>
            </a:r>
            <a:endParaRPr lang="en-US" sz="750" dirty="0"/>
          </a:p>
        </p:txBody>
      </p:sp>
      <p:sp>
        <p:nvSpPr>
          <p:cNvPr id="27" name="Text 16"/>
          <p:cNvSpPr/>
          <p:nvPr/>
        </p:nvSpPr>
        <p:spPr>
          <a:xfrm>
            <a:off x="1598414" y="3486569"/>
            <a:ext cx="19734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Penanganan record korup tanpa crash.</a:t>
            </a:r>
            <a:endParaRPr lang="en-US" sz="800" dirty="0"/>
          </a:p>
        </p:txBody>
      </p:sp>
      <p:sp>
        <p:nvSpPr>
          <p:cNvPr id="28" name="Shape 17"/>
          <p:cNvSpPr/>
          <p:nvPr/>
        </p:nvSpPr>
        <p:spPr>
          <a:xfrm>
            <a:off x="4351186" y="1211284"/>
            <a:ext cx="4364189" cy="834368"/>
          </a:xfrm>
          <a:prstGeom prst="rect">
            <a:avLst/>
          </a:prstGeom>
          <a:solidFill>
            <a:srgbClr val="1E293B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4351186" y="1211284"/>
            <a:ext cx="4364189" cy="834368"/>
          </a:xfrm>
          <a:prstGeom prst="rect">
            <a:avLst/>
          </a:prstGeom>
          <a:noFill/>
          <a:ln/>
        </p:spPr>
        <p:txBody>
          <a:bodyPr wrap="square" lIns="212598" tIns="170053" rIns="212598" bIns="170053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struct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750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Transaction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 std::string invoiceNo; std::string stockCode; std::string description;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quantity; std::string invoiceDate;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double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unitPrice;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customerID; std::string country; }; </a:t>
            </a:r>
            <a:r>
              <a:rPr lang="en-US" sz="700" b="1" dirty="0">
                <a:solidFill>
                  <a:srgbClr val="05966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std::vector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</a:t>
            </a:r>
            <a:r>
              <a:rPr lang="en-US" sz="750" dirty="0">
                <a:solidFill>
                  <a:srgbClr val="4F46E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Transaction</a:t>
            </a:r>
            <a:r>
              <a:rPr lang="en-US" sz="7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&gt; database;</a:t>
            </a:r>
            <a:endParaRPr lang="en-US" sz="750" dirty="0"/>
          </a:p>
        </p:txBody>
      </p:sp>
      <p:sp>
        <p:nvSpPr>
          <p:cNvPr id="30" name="Text 19"/>
          <p:cNvSpPr/>
          <p:nvPr/>
        </p:nvSpPr>
        <p:spPr>
          <a:xfrm>
            <a:off x="4351186" y="2159952"/>
            <a:ext cx="436418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Objek struktural dirancang untuk merepresentasikan data riil transaksi e-commerce secara komprehensif di memori volatile.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2867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DESAIN &amp; IMPLEMENTASI PROGRAM</a:t>
            </a:r>
            <a:endParaRPr lang="en-US" sz="1600" dirty="0"/>
          </a:p>
        </p:txBody>
      </p:sp>
      <p:pic>
        <p:nvPicPr>
          <p:cNvPr id="1026" name="Picture 2" descr="C:\Users\User\Downloads\Screenshot 2026-06-03 20413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919" y="1035050"/>
            <a:ext cx="3636483" cy="187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User\Downloads\Screenshot 2026-06-03 20423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558" y="2978150"/>
            <a:ext cx="4673207" cy="187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921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2867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DESAIN &amp; IMPLEMENTASI PROGRAM</a:t>
            </a:r>
            <a:endParaRPr lang="en-US" sz="1600" dirty="0"/>
          </a:p>
        </p:txBody>
      </p:sp>
      <p:pic>
        <p:nvPicPr>
          <p:cNvPr id="2050" name="Picture 2" descr="C:\Users\User\Downloads\Screenshot 2026-06-03 20431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568" y="1072280"/>
            <a:ext cx="2256366" cy="401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User\Downloads\Screenshot 2026-06-03 204348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518" y="1072280"/>
            <a:ext cx="3259666" cy="397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92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8353"/>
            <a:ext cx="82867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ANALISIS HASIL EKSPERIMEN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11284"/>
            <a:ext cx="4000500" cy="3266480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938" y="1389878"/>
            <a:ext cx="357187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TEMUAN ILMIAH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85813" y="1723848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Performa: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Quick Sort menunjukkan keunggulan eksponensial dibanding Bubble Sort seiring bertambahnya ukuran dataset transaksi.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5813" y="2345355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 Memori: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Meskipun cepat, Quick Sort memerlukan manajemen stack rekursi yang hati-hati untuk menghindari </a:t>
            </a:r>
            <a:r>
              <a:rPr lang="en-US" sz="8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overflow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85813" y="2966861"/>
            <a:ext cx="3429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Optimalisasi Pivot: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Implementasi pivot nilai tengah terbukti efektif mencegah degradasi performa pada data yang hampir terurut.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14875" y="1211284"/>
            <a:ext cx="4000500" cy="3266480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29188" y="1389878"/>
            <a:ext cx="357187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PERBANDINGAN WAKTU EKSEKUSI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1723848"/>
            <a:ext cx="3543300" cy="2143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29188" y="3974130"/>
            <a:ext cx="35718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Representasi konseptual berdasarkan hasil benchmark pada dataset 10.000+ transaksi.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0010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KESIMPULAN DAN REKOMENDASI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39847"/>
            <a:ext cx="3914775" cy="2743200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01474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4419" y="1282722"/>
            <a:ext cx="12144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KESIMPULAN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677414"/>
            <a:ext cx="100013" cy="5400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1550" y="1634551"/>
            <a:ext cx="3300413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Sort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dan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Exponential Search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memberikan peningkatan performa drastis bagi sistem e-commerce skala besar.</a:t>
            </a:r>
            <a:endParaRPr lang="en-US" sz="9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374627"/>
            <a:ext cx="100013" cy="34574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1550" y="2331765"/>
            <a:ext cx="330041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Efisiensi komputasi teoritis selaras dengan hasil pengujian benchmark pada data riil.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4657725" y="1139847"/>
            <a:ext cx="3914775" cy="2743200"/>
          </a:xfrm>
          <a:prstGeom prst="rect">
            <a:avLst/>
          </a:prstGeom>
          <a:solidFill>
            <a:srgbClr val="FFFFFF"/>
          </a:solidFill>
          <a:ln w="18288">
            <a:solidFill>
              <a:srgbClr val="1E293B"/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038" y="1301474"/>
            <a:ext cx="128588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086350" y="1282722"/>
            <a:ext cx="136981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46E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REKOMENDASI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2038" y="1677414"/>
            <a:ext cx="87511" cy="34574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045273" y="1634551"/>
            <a:ext cx="3312914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Gunakan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Sort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untuk pengurutan katalog produk masif secara efisien.</a:t>
            </a:r>
            <a:endParaRPr lang="en-US" sz="9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2038" y="2180323"/>
            <a:ext cx="87511" cy="34574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045273" y="2137460"/>
            <a:ext cx="3312914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Gunakan </a:t>
            </a:r>
            <a:r>
              <a:rPr lang="en-US" sz="8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Exponential Search</a:t>
            </a: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untuk pencarian pada dataset dinamis yang terurut.</a:t>
            </a:r>
            <a:endParaRPr lang="en-US" sz="9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2038" y="2683232"/>
            <a:ext cx="87511" cy="34574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045273" y="2640369"/>
            <a:ext cx="3312914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Selalu lakukan validasi data input untuk menjaga stabilitas sistem dari record korup.</a:t>
            </a:r>
            <a:endParaRPr lang="en-US" sz="900" dirty="0"/>
          </a:p>
        </p:txBody>
      </p:sp>
      <p:sp>
        <p:nvSpPr>
          <p:cNvPr id="20" name="Text 10"/>
          <p:cNvSpPr/>
          <p:nvPr/>
        </p:nvSpPr>
        <p:spPr>
          <a:xfrm>
            <a:off x="571500" y="4140222"/>
            <a:ext cx="8001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kern="0" spc="2" dirty="0">
                <a:solidFill>
                  <a:srgbClr val="1E293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TERIMA KASIH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1190</Words>
  <Application>Microsoft Office PowerPoint</Application>
  <PresentationFormat>On-screen Show (16:9)</PresentationFormat>
  <Paragraphs>149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2026-06-03T13:42:34Z</dcterms:created>
  <dcterms:modified xsi:type="dcterms:W3CDTF">2026-06-03T14:08:38Z</dcterms:modified>
</cp:coreProperties>
</file>